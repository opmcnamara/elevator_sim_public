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Fira Sans Extra Condensed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855A1-4C17-4AA2-AC5C-E1F54E00AEC4}">
  <a:tblStyle styleId="{BAE855A1-4C17-4AA2-AC5C-E1F54E00AE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Medium-bold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Medium-regular.fntdata"/><Relationship Id="rId15" Type="http://schemas.openxmlformats.org/officeDocument/2006/relationships/slide" Target="slides/slide10.xml"/><Relationship Id="rId37" Type="http://schemas.openxmlformats.org/officeDocument/2006/relationships/font" Target="fonts/FiraSansExtraCondensed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FiraSansExtraCondensed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6346ce8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6346ce8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6346ce8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86346ce8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6346ce8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86346ce8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6346ce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6346ce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6346ce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6346ce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6346ce8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86346ce8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6346ce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86346ce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6346ce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86346ce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6346ce8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86346ce8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6346ce8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86346ce8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6346ce8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86346ce8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86346ce8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86346ce8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6346ce8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86346ce8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" name="Google Shape;19;p5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ctrTitle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3" type="title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subTitle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4" type="ctrTitle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5" type="title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6" type="subTitle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7" type="ctrTitle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8" type="title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9" type="subTitle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3" type="ctrTitle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4" type="title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5" type="subTitle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" name="Google Shape;34;p6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2" type="title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5" name="Google Shape;45;p8"/>
          <p:cNvSpPr/>
          <p:nvPr/>
        </p:nvSpPr>
        <p:spPr>
          <a:xfrm flipH="1" rot="10800000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/>
          <p:nvPr/>
        </p:nvSpPr>
        <p:spPr>
          <a:xfrm flipH="1" rot="10800000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6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/>
          <p:nvPr/>
        </p:nvSpPr>
        <p:spPr>
          <a:xfrm flipH="1" rot="10800000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/>
          <p:nvPr/>
        </p:nvSpPr>
        <p:spPr>
          <a:xfrm flipH="1" rot="10800000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2" type="subTitle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3" type="subTitle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4" type="subTitle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5" type="subTitle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6" type="subTitle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0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0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1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subTitle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2" type="subTitle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3" type="subTitle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4" type="subTitle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5" type="subTitle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6" type="subTitle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7" type="subTitle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8" type="subTitle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9" type="subTitle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77" name="Google Shape;77;p12"/>
          <p:cNvSpPr txBox="1"/>
          <p:nvPr>
            <p:ph idx="13" type="subTitle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713225" y="2371675"/>
            <a:ext cx="29871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/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3962400" y="2371675"/>
            <a:ext cx="29871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/>
        </p:txBody>
      </p:sp>
      <p:sp>
        <p:nvSpPr>
          <p:cNvPr id="87" name="Google Shape;87;p14"/>
          <p:cNvSpPr txBox="1"/>
          <p:nvPr>
            <p:ph idx="3" type="subTitle"/>
          </p:nvPr>
        </p:nvSpPr>
        <p:spPr>
          <a:xfrm>
            <a:off x="713225" y="1925800"/>
            <a:ext cx="29871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4" type="subTitle"/>
          </p:nvPr>
        </p:nvSpPr>
        <p:spPr>
          <a:xfrm>
            <a:off x="3962400" y="1925800"/>
            <a:ext cx="29871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/>
          <p:nvPr/>
        </p:nvSpPr>
        <p:spPr>
          <a:xfrm>
            <a:off x="7520700" y="20511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304500" y="0"/>
            <a:ext cx="1216200" cy="205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2683950" y="3273525"/>
            <a:ext cx="575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 flipH="1">
            <a:off x="2684000" y="1247225"/>
            <a:ext cx="57573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2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/>
          <p:nvPr/>
        </p:nvSpPr>
        <p:spPr>
          <a:xfrm flipH="1" rot="10800000">
            <a:off x="121620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 flipH="1" rot="10800000">
            <a:off x="0" y="1061825"/>
            <a:ext cx="1216200" cy="150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713225" y="544075"/>
            <a:ext cx="42648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3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hasCustomPrompt="1" type="title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 flipH="1"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 flipH="1" rot="10800000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10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730075" y="1631700"/>
            <a:ext cx="47007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3730075" y="2726700"/>
            <a:ext cx="47007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 flipH="1" rot="10800000">
            <a:off x="21109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 flipH="1"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2" type="title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12" name="Google Shape;112;p19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750975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750975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2" type="title"/>
          </p:nvPr>
        </p:nvSpPr>
        <p:spPr>
          <a:xfrm>
            <a:off x="3508587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18" name="Google Shape;118;p20"/>
          <p:cNvSpPr txBox="1"/>
          <p:nvPr>
            <p:ph idx="3" type="subTitle"/>
          </p:nvPr>
        </p:nvSpPr>
        <p:spPr>
          <a:xfrm>
            <a:off x="3508587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idx="4"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5" type="title"/>
          </p:nvPr>
        </p:nvSpPr>
        <p:spPr>
          <a:xfrm>
            <a:off x="6216100" y="28191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21" name="Google Shape;121;p20"/>
          <p:cNvSpPr txBox="1"/>
          <p:nvPr>
            <p:ph idx="6" type="subTitle"/>
          </p:nvPr>
        </p:nvSpPr>
        <p:spPr>
          <a:xfrm>
            <a:off x="6216100" y="3390050"/>
            <a:ext cx="2164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0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3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" type="subTitle"/>
          </p:nvPr>
        </p:nvSpPr>
        <p:spPr>
          <a:xfrm>
            <a:off x="145422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2" type="subTitle"/>
          </p:nvPr>
        </p:nvSpPr>
        <p:spPr>
          <a:xfrm>
            <a:off x="145422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542787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4" type="subTitle"/>
          </p:nvPr>
        </p:nvSpPr>
        <p:spPr>
          <a:xfrm>
            <a:off x="542787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21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4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595134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2" type="subTitle"/>
          </p:nvPr>
        </p:nvSpPr>
        <p:spPr>
          <a:xfrm>
            <a:off x="59513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3" type="subTitle"/>
          </p:nvPr>
        </p:nvSpPr>
        <p:spPr>
          <a:xfrm>
            <a:off x="595127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4" type="subTitle"/>
          </p:nvPr>
        </p:nvSpPr>
        <p:spPr>
          <a:xfrm>
            <a:off x="59512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5" type="subTitle"/>
          </p:nvPr>
        </p:nvSpPr>
        <p:spPr>
          <a:xfrm>
            <a:off x="315609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6" type="subTitle"/>
          </p:nvPr>
        </p:nvSpPr>
        <p:spPr>
          <a:xfrm>
            <a:off x="31560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7" type="subTitle"/>
          </p:nvPr>
        </p:nvSpPr>
        <p:spPr>
          <a:xfrm>
            <a:off x="315602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8" type="subTitle"/>
          </p:nvPr>
        </p:nvSpPr>
        <p:spPr>
          <a:xfrm>
            <a:off x="31559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1" name="Google Shape;141;p22"/>
          <p:cNvSpPr/>
          <p:nvPr/>
        </p:nvSpPr>
        <p:spPr>
          <a:xfrm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/>
          <p:nvPr/>
        </p:nvSpPr>
        <p:spPr>
          <a:xfrm rot="10800000">
            <a:off x="1216200" y="1061825"/>
            <a:ext cx="1216200" cy="15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5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1098800" y="377520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2" type="subTitle"/>
          </p:nvPr>
        </p:nvSpPr>
        <p:spPr>
          <a:xfrm>
            <a:off x="1098800" y="305130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3" type="subTitle"/>
          </p:nvPr>
        </p:nvSpPr>
        <p:spPr>
          <a:xfrm>
            <a:off x="1098800" y="231555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4" type="subTitle"/>
          </p:nvPr>
        </p:nvSpPr>
        <p:spPr>
          <a:xfrm>
            <a:off x="1098800" y="159165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23"/>
          <p:cNvSpPr/>
          <p:nvPr/>
        </p:nvSpPr>
        <p:spPr>
          <a:xfrm flipH="1" rot="10800000">
            <a:off x="5416200" y="1010100"/>
            <a:ext cx="1216200" cy="156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/>
          <p:nvPr/>
        </p:nvSpPr>
        <p:spPr>
          <a:xfrm flipH="1" rot="10800000">
            <a:off x="6632400" y="2571600"/>
            <a:ext cx="1216200" cy="25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" type="subTitle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2" type="subTitle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3" type="subTitle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4" type="subTitle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4"/>
          <p:cNvSpPr txBox="1"/>
          <p:nvPr>
            <p:ph idx="5" type="subTitle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6" type="subTitle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7" type="subTitle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8" type="subTitle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9" type="subTitle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13" type="subTitle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4" type="subTitle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15" type="subTitle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5" name="Google Shape;165;p24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/>
        </p:nvSpPr>
        <p:spPr>
          <a:xfrm>
            <a:off x="713225" y="3485675"/>
            <a:ext cx="3956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b="1" i="0" sz="11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711600" y="25716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1" type="subTitle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2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accent1"/>
                </a:solidFill>
              </a:rPr>
              <a:t>Elevator Simulation Study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2" name="Google Shape;182;p28"/>
          <p:cNvSpPr txBox="1"/>
          <p:nvPr>
            <p:ph idx="1" type="subTitle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August 27, 2026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88" name="Google Shape;188;p29"/>
          <p:cNvSpPr txBox="1"/>
          <p:nvPr>
            <p:ph idx="4294967295" type="body"/>
          </p:nvPr>
        </p:nvSpPr>
        <p:spPr>
          <a:xfrm>
            <a:off x="713226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Passengers submit both origin and destination floors at the time of request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passenger must make a request (no “freeloaders”)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Onboarding and offloading passengers takes 0 time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stopping to pick up or let passengers off incurs no additional time for passengers on board or those waiting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 ID’s are assigned sequentially in order of request (used for tiebreaks)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requests are well-formed (simulation will raise an error otherwise)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Passengers are immediately assigned an elevator, and assignments cannot be changed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Passengers cannot modify their destination after assignment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00433" y="333000"/>
            <a:ext cx="7708200" cy="6132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Simulation Architecture</a:t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2249424" y="1115568"/>
            <a:ext cx="4242816" cy="768096"/>
          </a:xfrm>
          <a:prstGeom prst="roundRect">
            <a:avLst>
              <a:gd fmla="val 16667" name="adj"/>
            </a:avLst>
          </a:prstGeom>
          <a:solidFill>
            <a:srgbClr val="92B9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Scheduler (e.g., ETA, Nearest Car, Round Robin) </a:t>
            </a:r>
            <a:endParaRPr/>
          </a:p>
        </p:txBody>
      </p:sp>
      <p:cxnSp>
        <p:nvCxnSpPr>
          <p:cNvPr id="195" name="Google Shape;195;p30"/>
          <p:cNvCxnSpPr/>
          <p:nvPr/>
        </p:nvCxnSpPr>
        <p:spPr>
          <a:xfrm flipH="1">
            <a:off x="2405252" y="2002536"/>
            <a:ext cx="365760" cy="914400"/>
          </a:xfrm>
          <a:prstGeom prst="straightConnector1">
            <a:avLst/>
          </a:prstGeom>
          <a:noFill/>
          <a:ln cap="flat" cmpd="sng" w="9525">
            <a:solidFill>
              <a:srgbClr val="0037A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30"/>
          <p:cNvSpPr/>
          <p:nvPr/>
        </p:nvSpPr>
        <p:spPr>
          <a:xfrm>
            <a:off x="1764792" y="2962656"/>
            <a:ext cx="1280920" cy="1188720"/>
          </a:xfrm>
          <a:prstGeom prst="roundRect">
            <a:avLst>
              <a:gd fmla="val 16667" name="adj"/>
            </a:avLst>
          </a:prstGeom>
          <a:solidFill>
            <a:srgbClr val="B3B3B3"/>
          </a:solidFill>
          <a:ln cap="flat" cmpd="sng" w="25400">
            <a:solidFill>
              <a:srgbClr val="0018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Elevator_1</a:t>
            </a:r>
            <a:endParaRPr/>
          </a:p>
        </p:txBody>
      </p:sp>
      <p:cxnSp>
        <p:nvCxnSpPr>
          <p:cNvPr id="197" name="Google Shape;197;p30"/>
          <p:cNvCxnSpPr/>
          <p:nvPr/>
        </p:nvCxnSpPr>
        <p:spPr>
          <a:xfrm>
            <a:off x="4386289" y="1984248"/>
            <a:ext cx="0" cy="932688"/>
          </a:xfrm>
          <a:prstGeom prst="straightConnector1">
            <a:avLst/>
          </a:prstGeom>
          <a:noFill/>
          <a:ln cap="flat" cmpd="sng" w="9525">
            <a:solidFill>
              <a:srgbClr val="0037A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30"/>
          <p:cNvSpPr txBox="1"/>
          <p:nvPr/>
        </p:nvSpPr>
        <p:spPr>
          <a:xfrm>
            <a:off x="5101591" y="3099816"/>
            <a:ext cx="11887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99" name="Google Shape;199;p30"/>
          <p:cNvSpPr/>
          <p:nvPr/>
        </p:nvSpPr>
        <p:spPr>
          <a:xfrm>
            <a:off x="3730371" y="2962656"/>
            <a:ext cx="1280921" cy="1188720"/>
          </a:xfrm>
          <a:prstGeom prst="roundRect">
            <a:avLst>
              <a:gd fmla="val 16667" name="adj"/>
            </a:avLst>
          </a:prstGeom>
          <a:solidFill>
            <a:srgbClr val="B3B3B3"/>
          </a:solidFill>
          <a:ln cap="flat" cmpd="sng" w="25400">
            <a:solidFill>
              <a:srgbClr val="0018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Elevator_2</a:t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>
            <a:off x="5951981" y="2962656"/>
            <a:ext cx="1280923" cy="1188720"/>
          </a:xfrm>
          <a:prstGeom prst="roundRect">
            <a:avLst>
              <a:gd fmla="val 16667" name="adj"/>
            </a:avLst>
          </a:prstGeom>
          <a:solidFill>
            <a:srgbClr val="B3B3B3"/>
          </a:solidFill>
          <a:ln cap="flat" cmpd="sng" w="25400">
            <a:solidFill>
              <a:srgbClr val="0018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Elevator_M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30"/>
          <p:cNvCxnSpPr/>
          <p:nvPr/>
        </p:nvCxnSpPr>
        <p:spPr>
          <a:xfrm>
            <a:off x="6249541" y="2002536"/>
            <a:ext cx="342901" cy="932688"/>
          </a:xfrm>
          <a:prstGeom prst="straightConnector1">
            <a:avLst/>
          </a:prstGeom>
          <a:noFill/>
          <a:ln cap="flat" cmpd="sng" w="9525">
            <a:solidFill>
              <a:srgbClr val="0037A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30"/>
          <p:cNvSpPr txBox="1"/>
          <p:nvPr/>
        </p:nvSpPr>
        <p:spPr>
          <a:xfrm>
            <a:off x="2406842" y="4502723"/>
            <a:ext cx="52088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elevators follow same independent internal algorithm/logic based on current state</a:t>
            </a:r>
            <a:endParaRPr/>
          </a:p>
        </p:txBody>
      </p:sp>
      <p:grpSp>
        <p:nvGrpSpPr>
          <p:cNvPr id="203" name="Google Shape;203;p30"/>
          <p:cNvGrpSpPr/>
          <p:nvPr/>
        </p:nvGrpSpPr>
        <p:grpSpPr>
          <a:xfrm>
            <a:off x="2051695" y="4479832"/>
            <a:ext cx="353557" cy="353557"/>
            <a:chOff x="-30064925" y="2332550"/>
            <a:chExt cx="291425" cy="291425"/>
          </a:xfrm>
        </p:grpSpPr>
        <p:sp>
          <p:nvSpPr>
            <p:cNvPr id="204" name="Google Shape;204;p30"/>
            <p:cNvSpPr/>
            <p:nvPr/>
          </p:nvSpPr>
          <p:spPr>
            <a:xfrm>
              <a:off x="-30064925" y="2332550"/>
              <a:ext cx="291425" cy="291425"/>
            </a:xfrm>
            <a:custGeom>
              <a:rect b="b" l="l" r="r" t="t"/>
              <a:pathLst>
                <a:path extrusionOk="0" h="11657" w="11657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-29944425" y="238452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-29944425" y="2452250"/>
              <a:ext cx="51225" cy="119750"/>
            </a:xfrm>
            <a:custGeom>
              <a:rect b="b" l="l" r="r" t="t"/>
              <a:pathLst>
                <a:path extrusionOk="0" h="4790" w="2049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30"/>
          <p:cNvSpPr txBox="1"/>
          <p:nvPr/>
        </p:nvSpPr>
        <p:spPr>
          <a:xfrm>
            <a:off x="6592442" y="1238006"/>
            <a:ext cx="22990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Decides where new passengers are assigned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/>
              <a:t>Elevator Algorithm</a:t>
            </a:r>
            <a:endParaRPr/>
          </a:p>
        </p:txBody>
      </p:sp>
      <p:sp>
        <p:nvSpPr>
          <p:cNvPr id="213" name="Google Shape;213;p31"/>
          <p:cNvSpPr txBox="1"/>
          <p:nvPr>
            <p:ph idx="4294967295" type="body"/>
          </p:nvPr>
        </p:nvSpPr>
        <p:spPr>
          <a:xfrm>
            <a:off x="713226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individual elevator follows the LOOK algorithm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idea: keep moving in the current direction while there are requests “ahead” in current direction, reverse direction once there are no more requests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think of elevator having 3 key pieces of information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floor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direction (UP or DOWN)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pending floors to visit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219" name="Google Shape;219;p32"/>
          <p:cNvSpPr txBox="1"/>
          <p:nvPr>
            <p:ph idx="4294967295" type="body"/>
          </p:nvPr>
        </p:nvSpPr>
        <p:spPr>
          <a:xfrm>
            <a:off x="713250" y="113788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have a simple system with just 1 elevator beginning on Floor 1 @ t = 0 with the following requests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Passenger_1: Floor 1 to Floor 10 @ t = 0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Passenger_2: Floor 5 to Floor 15 @ t = 3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Passenger_3: Floor 12 to Floor 1 @ t = 9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Elevator will first pickup Passenger_1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elevator arrives at Floor 5, it can pick up Passenger_2 since they are going in the same direction and have capacity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when elevator first arrives at Floor 12, it still has work above and will not stop for Passenger_3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Passenger_3 must wait until elevator reverses direction at Floor 15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/>
              <a:t>Elevator Algorithm Tradeoffs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LOOK algorithm ensures several nice properties for passengers: 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passenger onboard an elevator will never be traveling in the wrong direction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elevator will never reverse direction with passengers onboard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boarded, passengers will never face additional delays (under current assumptions)</a:t>
            </a:r>
            <a:endParaRPr/>
          </a:p>
          <a:p>
            <a:pPr indent="-215519" lvl="0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maintaining these properties is not globally optimal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an elevator on floor 10 moving up with one passenger going to floor 30, and a new request comes in with origin </a:t>
            </a:r>
            <a:r>
              <a:rPr lang="en">
                <a:solidFill>
                  <a:schemeClr val="dk1"/>
                </a:solidFill>
              </a:rPr>
              <a:t>7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destination 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Would be less total time to reverse and pick up new passenger, but imposes a travel delay to passenger aboard</a:t>
            </a:r>
            <a:endParaRPr>
              <a:solidFill>
                <a:schemeClr val="dk1"/>
              </a:solidFill>
            </a:endParaRPr>
          </a:p>
          <a:p>
            <a:pPr indent="-215519" lvl="6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</a:pPr>
            <a:r>
              <a:rPr lang="en"/>
              <a:t>Elevator Algorithm Tradeoffs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simulation prioritizes the experience of passengers currently </a:t>
            </a:r>
            <a:r>
              <a:rPr lang="en">
                <a:solidFill>
                  <a:schemeClr val="dk1"/>
                </a:solidFill>
              </a:rPr>
              <a:t>onboard</a:t>
            </a:r>
            <a:r>
              <a:rPr lang="en">
                <a:solidFill>
                  <a:schemeClr val="dk1"/>
                </a:solidFill>
              </a:rPr>
              <a:t> an elevator, at the </a:t>
            </a:r>
            <a:r>
              <a:rPr lang="en">
                <a:solidFill>
                  <a:schemeClr val="dk1"/>
                </a:solidFill>
              </a:rPr>
              <a:t>expense</a:t>
            </a:r>
            <a:r>
              <a:rPr lang="en">
                <a:solidFill>
                  <a:schemeClr val="dk1"/>
                </a:solidFill>
              </a:rPr>
              <a:t> of potentially increasing some wait times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Worthwhile</a:t>
            </a:r>
            <a:r>
              <a:rPr lang="en">
                <a:solidFill>
                  <a:schemeClr val="dk1"/>
                </a:solidFill>
              </a:rPr>
              <a:t> tradeoff to wait slightly longer for a guaranteed travel time once </a:t>
            </a:r>
            <a:r>
              <a:rPr lang="en">
                <a:solidFill>
                  <a:schemeClr val="dk1"/>
                </a:solidFill>
              </a:rPr>
              <a:t>boarded</a:t>
            </a:r>
            <a:r>
              <a:rPr lang="en">
                <a:solidFill>
                  <a:schemeClr val="dk1"/>
                </a:solidFill>
              </a:rPr>
              <a:t> the elevator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Avoids unpleasant behavior, such as an elevator constantly reversing direction and moving between several floors while a </a:t>
            </a:r>
            <a:r>
              <a:rPr lang="en">
                <a:solidFill>
                  <a:schemeClr val="dk1"/>
                </a:solidFill>
              </a:rPr>
              <a:t>passenger</a:t>
            </a:r>
            <a:r>
              <a:rPr lang="en">
                <a:solidFill>
                  <a:schemeClr val="dk1"/>
                </a:solidFill>
              </a:rPr>
              <a:t> is stuck </a:t>
            </a:r>
            <a:r>
              <a:rPr lang="en">
                <a:solidFill>
                  <a:schemeClr val="dk1"/>
                </a:solidFill>
              </a:rPr>
              <a:t>onboard</a:t>
            </a:r>
            <a:r>
              <a:rPr lang="en">
                <a:solidFill>
                  <a:schemeClr val="dk1"/>
                </a:solidFill>
              </a:rPr>
              <a:t> waiting to go on a longer trip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Assumes waiting longer on a floor is preferable to longer time in elevator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15519" lvl="6" marL="425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Schedulers</a:t>
            </a:r>
            <a:endParaRPr/>
          </a:p>
        </p:txBody>
      </p:sp>
      <p:sp>
        <p:nvSpPr>
          <p:cNvPr id="237" name="Google Shape;237;p35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next key design choice is </a:t>
            </a:r>
            <a:r>
              <a:rPr lang="en">
                <a:solidFill>
                  <a:schemeClr val="dk1"/>
                </a:solidFill>
              </a:rPr>
              <a:t>determining</a:t>
            </a:r>
            <a:r>
              <a:rPr lang="en">
                <a:solidFill>
                  <a:schemeClr val="dk1"/>
                </a:solidFill>
              </a:rPr>
              <a:t> how the </a:t>
            </a:r>
            <a:r>
              <a:rPr lang="en">
                <a:solidFill>
                  <a:schemeClr val="dk1"/>
                </a:solidFill>
              </a:rPr>
              <a:t>scheduler</a:t>
            </a:r>
            <a:r>
              <a:rPr lang="en">
                <a:solidFill>
                  <a:schemeClr val="dk1"/>
                </a:solidFill>
              </a:rPr>
              <a:t> should assign </a:t>
            </a:r>
            <a:r>
              <a:rPr lang="en">
                <a:solidFill>
                  <a:schemeClr val="dk1"/>
                </a:solidFill>
              </a:rPr>
              <a:t>passengers</a:t>
            </a:r>
            <a:r>
              <a:rPr lang="en">
                <a:solidFill>
                  <a:schemeClr val="dk1"/>
                </a:solidFill>
              </a:rPr>
              <a:t>. Two simple methods are provided for baseline comparisons 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Round Robin - assigns passengers to each elevator in sequential order, without considering their source/destination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Nearest Car - calculates how far away each elevator is from the source floor of new request, with a </a:t>
            </a:r>
            <a:r>
              <a:rPr lang="en">
                <a:solidFill>
                  <a:schemeClr val="dk1"/>
                </a:solidFill>
              </a:rPr>
              <a:t>penalty</a:t>
            </a:r>
            <a:r>
              <a:rPr lang="en">
                <a:solidFill>
                  <a:schemeClr val="dk1"/>
                </a:solidFill>
              </a:rPr>
              <a:t> added for cars moving in the opposite direction. Assign to car with lowest score</a:t>
            </a:r>
            <a:endParaRPr>
              <a:solidFill>
                <a:schemeClr val="dk1"/>
              </a:solidFill>
            </a:endParaRPr>
          </a:p>
          <a:p>
            <a:pPr indent="-317500" lvl="0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Does not consider other passenger currently onboard/waiting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ETA Scheduler</a:t>
            </a:r>
            <a:endParaRPr/>
          </a:p>
        </p:txBody>
      </p:sp>
      <p:sp>
        <p:nvSpPr>
          <p:cNvPr id="243" name="Google Shape;243;p36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default scheduler is the ETA scheduler, which attempts to minimize the total time per passenger by calculating impact of adding new passenger to current elevator state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For each new request, </a:t>
            </a:r>
            <a:r>
              <a:rPr lang="en">
                <a:solidFill>
                  <a:schemeClr val="dk1"/>
                </a:solidFill>
              </a:rPr>
              <a:t>evaluate</a:t>
            </a:r>
            <a:r>
              <a:rPr lang="en">
                <a:solidFill>
                  <a:schemeClr val="dk1"/>
                </a:solidFill>
              </a:rPr>
              <a:t> every elevator with two </a:t>
            </a:r>
            <a:r>
              <a:rPr lang="en">
                <a:solidFill>
                  <a:schemeClr val="dk1"/>
                </a:solidFill>
              </a:rPr>
              <a:t>isolated “shadow simulations” that don’t impact main simulation state</a:t>
            </a:r>
            <a:endParaRPr>
              <a:solidFill>
                <a:schemeClr val="dk1"/>
              </a:solidFill>
            </a:endParaRPr>
          </a:p>
          <a:p>
            <a:pPr indent="-317500" lvl="1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Known workload as-is (onboard + waiting passengers)</a:t>
            </a:r>
            <a:endParaRPr>
              <a:solidFill>
                <a:schemeClr val="dk1"/>
              </a:solidFill>
            </a:endParaRPr>
          </a:p>
          <a:p>
            <a:pPr indent="-317500" lvl="1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Workload with new candidate added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Score is computed as the increase in summed passenger total time, so includes candidate’s completion time and any delayed imposed on existing passengers</a:t>
            </a:r>
            <a:endParaRPr>
              <a:solidFill>
                <a:schemeClr val="dk1"/>
              </a:solidFill>
            </a:endParaRPr>
          </a:p>
          <a:p>
            <a:pPr indent="-317500" lvl="1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Passenger assigned elevator with lowest score</a:t>
            </a:r>
            <a:endParaRPr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Comparison: Data</a:t>
            </a:r>
            <a:endParaRPr/>
          </a:p>
        </p:txBody>
      </p:sp>
      <p:sp>
        <p:nvSpPr>
          <p:cNvPr id="249" name="Google Shape;249;p37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compare the performance of the 3 </a:t>
            </a:r>
            <a:r>
              <a:rPr lang="en">
                <a:solidFill>
                  <a:schemeClr val="dk1"/>
                </a:solidFill>
              </a:rPr>
              <a:t>schedulers</a:t>
            </a:r>
            <a:r>
              <a:rPr lang="en">
                <a:solidFill>
                  <a:schemeClr val="dk1"/>
                </a:solidFill>
              </a:rPr>
              <a:t>, created test data to run and perform analysis with realistic building configuration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10 files, each with 10,000 </a:t>
            </a:r>
            <a:r>
              <a:rPr lang="en">
                <a:solidFill>
                  <a:schemeClr val="dk1"/>
                </a:solidFill>
              </a:rPr>
              <a:t>passenger</a:t>
            </a:r>
            <a:r>
              <a:rPr lang="en">
                <a:solidFill>
                  <a:schemeClr val="dk1"/>
                </a:solidFill>
              </a:rPr>
              <a:t> requests 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Model request times with a Poisson distribution, average of 1 request per unit of time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40% of requests originate from the lobby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source is not the lobby, give 70% chance of request going to lobby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source is lobby, uniform destination among other floors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Simulation run with 10 elevators, capacity of 10 for each elevator, and 50 floors </a:t>
            </a:r>
            <a:endParaRPr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824" y="0"/>
            <a:ext cx="68636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ETA Detailed Statistics</a:t>
            </a:r>
            <a:endParaRPr/>
          </a:p>
        </p:txBody>
      </p:sp>
      <p:graphicFrame>
        <p:nvGraphicFramePr>
          <p:cNvPr id="260" name="Google Shape;260;p39"/>
          <p:cNvGraphicFramePr/>
          <p:nvPr/>
        </p:nvGraphicFramePr>
        <p:xfrm>
          <a:off x="640000" y="137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{BAE855A1-4C17-4AA2-AC5C-E1F54E00AEC4}</a:tableStyleId>
              </a:tblPr>
              <a:tblGrid>
                <a:gridCol w="3598400"/>
                <a:gridCol w="359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 Deviation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Maximum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 Elevators</a:t>
            </a:r>
            <a:endParaRPr/>
          </a:p>
        </p:txBody>
      </p:sp>
      <p:sp>
        <p:nvSpPr>
          <p:cNvPr id="266" name="Google Shape;266;p40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Additional functionality built into </a:t>
            </a:r>
            <a:r>
              <a:rPr lang="en">
                <a:solidFill>
                  <a:schemeClr val="dk1"/>
                </a:solidFill>
              </a:rPr>
              <a:t>simulation to optionally designate some elevators as “express” that only visit certain floors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Simulation allows a max of (num_elevators - 1) express elevators</a:t>
            </a:r>
            <a:endParaRPr>
              <a:solidFill>
                <a:schemeClr val="dk1"/>
              </a:solidFill>
            </a:endParaRPr>
          </a:p>
          <a:p>
            <a:pPr indent="-317500" lvl="1" marL="1314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Reserves at least 1 elevator that can serve entire building</a:t>
            </a:r>
            <a:endParaRPr>
              <a:solidFill>
                <a:schemeClr val="dk1"/>
              </a:solidFill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Requests are only considered eligible for an express elevator if both the source and destination are in the designated express floors</a:t>
            </a:r>
            <a:endParaRPr>
              <a:solidFill>
                <a:schemeClr val="dk1"/>
              </a:solidFill>
            </a:endParaRPr>
          </a:p>
          <a:p>
            <a:pPr indent="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ETA vs. ETA w/2 Express Elevators</a:t>
            </a:r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50" y="1030875"/>
            <a:ext cx="7040883" cy="38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Fair-ETA</a:t>
            </a:r>
            <a:endParaRPr/>
          </a:p>
        </p:txBody>
      </p:sp>
      <p:sp>
        <p:nvSpPr>
          <p:cNvPr id="278" name="Google Shape;278;p42"/>
          <p:cNvSpPr txBox="1"/>
          <p:nvPr/>
        </p:nvSpPr>
        <p:spPr>
          <a:xfrm>
            <a:off x="713225" y="1108933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ETA algorithm is already quite fair overall, but there is some potential to adversely affect </a:t>
            </a:r>
            <a:r>
              <a:rPr lang="en">
                <a:solidFill>
                  <a:schemeClr val="dk1"/>
                </a:solidFill>
              </a:rPr>
              <a:t>specific</a:t>
            </a:r>
            <a:r>
              <a:rPr lang="en">
                <a:solidFill>
                  <a:schemeClr val="dk1"/>
                </a:solidFill>
              </a:rPr>
              <a:t> passengers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E.g., if adding a passenger to Elev_1 imposes a delay of 10 to a single passenger, but adding them to Elev_2 imposes a delay of 2 to 6 </a:t>
            </a:r>
            <a:r>
              <a:rPr lang="en">
                <a:solidFill>
                  <a:schemeClr val="dk1"/>
                </a:solidFill>
              </a:rPr>
              <a:t>passengers</a:t>
            </a:r>
            <a:r>
              <a:rPr lang="en">
                <a:solidFill>
                  <a:schemeClr val="dk1"/>
                </a:solidFill>
              </a:rPr>
              <a:t>, new passenger would be added to Elev_1 (total cost of 10 vs. 12)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Idea: increasingly penalize additional wait time once waiting time exceeds a </a:t>
            </a:r>
            <a:r>
              <a:rPr lang="en">
                <a:solidFill>
                  <a:schemeClr val="dk1"/>
                </a:solidFill>
              </a:rPr>
              <a:t>specified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threshold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adding a new passenger to an elevator significantly increases wait time for an existing passenger, that elevator will get a much higher score and is less likely to be selected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ETA vs. Fair ETA</a:t>
            </a:r>
            <a:endParaRPr/>
          </a:p>
        </p:txBody>
      </p:sp>
      <p:pic>
        <p:nvPicPr>
          <p:cNvPr id="284" name="Google Shape;284;p43" title="wait_time_histo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800" y="995909"/>
            <a:ext cx="7213373" cy="390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